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afaed9-59fc-fb3b-f5e5-b28b3aa2817f}">
          <p14:sldIdLst>
            <p14:sldId id="256"/>
            <p14:sldId id="257"/>
            <p14:sldId id="258"/>
          </p14:sldIdLst>
        </p14:section>
        <p14:section name="Findings" id="{06bf7f19-2ae4-e99b-67d2-adc31e308244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livery" id="{a14bd9ea-9bc9-4fba-02a8-a99f43a6253f}">
          <p14:sldIdLst>
            <p14:sldId id="266"/>
          </p14:sldIdLst>
        </p14:section>
        <p14:section name="Action" id="{e4a7c33d-2c7a-aee8-8faf-21dad43f4bc6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Loans by status (4,825)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63238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0A4A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B74D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62828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Current</c:v>
                </c:pt>
                <c:pt idx="1">
                  <c:v>Closed</c:v>
                </c:pt>
                <c:pt idx="2">
                  <c:v>Overdue</c:v>
                </c:pt>
                <c:pt idx="3">
                  <c:v>Default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3414</c:v>
                </c:pt>
                <c:pt idx="1">
                  <c:v>789</c:v>
                </c:pt>
                <c:pt idx="2">
                  <c:v>318</c:v>
                </c:pt>
                <c:pt idx="3">
                  <c:v>304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46E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Default rate by loan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Business</c:v>
                  </c:pt>
                  <c:pt idx="1">
                    <c:v>Personal</c:v>
                  </c:pt>
                  <c:pt idx="2">
                    <c:v>Auto</c:v>
                  </c:pt>
                  <c:pt idx="3">
                    <c:v>Education</c:v>
                  </c:pt>
                  <c:pt idx="4">
                    <c:v>Home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11.7</c:v>
                </c:pt>
                <c:pt idx="1">
                  <c:v>7.5</c:v>
                </c:pt>
                <c:pt idx="2">
                  <c:v>5.4</c:v>
                </c:pt>
                <c:pt idx="3">
                  <c:v>4.8</c:v>
                </c:pt>
                <c:pt idx="4">
                  <c:v>2.9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Default rate by credit score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Poor (&lt;580)</c:v>
                  </c:pt>
                  <c:pt idx="1">
                    <c:v>Fair (580-669)</c:v>
                  </c:pt>
                  <c:pt idx="2">
                    <c:v>Good (670-739)</c:v>
                  </c:pt>
                  <c:pt idx="3">
                    <c:v>Excellent (740+)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34.6</c:v>
                </c:pt>
                <c:pt idx="1">
                  <c:v>13.1</c:v>
                </c:pt>
                <c:pt idx="2">
                  <c:v>4.1</c:v>
                </c:pt>
                <c:pt idx="3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Default rate by income quartile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F57C00"/>
            </a:solidFill>
            <a:ln w="38100" cap="flat">
              <a:solidFill>
                <a:srgbClr val="F57C00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F57C00"/>
              </a:solidFill>
              <a:ln w="9525" cap="flat">
                <a:solidFill>
                  <a:srgbClr val="F57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Lower-mid</c:v>
                  </c:pt>
                  <c:pt idx="2">
                    <c:v>Upper-mid</c:v>
                  </c:pt>
                  <c:pt idx="3">
                    <c:v>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9.7</c:v>
                </c:pt>
                <c:pt idx="1">
                  <c:v>7.6</c:v>
                </c:pt>
                <c:pt idx="2">
                  <c:v>5.1</c:v>
                </c:pt>
                <c:pt idx="3">
                  <c:v>2.8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Exposure by days past due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Exposure (M)</c:v>
                </c:pt>
              </c:strCache>
            </c:strRef>
          </c:tx>
          <c:spPr>
            <a:solidFill>
              <a:srgbClr val="FFB74D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B7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1-30 days</c:v>
                  </c:pt>
                  <c:pt idx="1">
                    <c:v>31-60 days</c:v>
                  </c:pt>
                  <c:pt idx="2">
                    <c:v>61-90 days</c:v>
                  </c:pt>
                  <c:pt idx="3">
                    <c:v>90+ days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14.6</c:v>
                </c:pt>
                <c:pt idx="1">
                  <c:v>7.8</c:v>
                </c:pt>
                <c:pt idx="2">
                  <c:v>5.7</c:v>
                </c:pt>
                <c:pt idx="3">
                  <c:v>15.2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Approval rate by employment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Approval rate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Salaried</c:v>
                  </c:pt>
                  <c:pt idx="1">
                    <c:v>Business owner</c:v>
                  </c:pt>
                  <c:pt idx="2">
                    <c:v>Self-employed</c:v>
                  </c:pt>
                  <c:pt idx="3">
                    <c:v>Retired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45.8</c:v>
                </c:pt>
                <c:pt idx="1">
                  <c:v>35.8</c:v>
                </c:pt>
                <c:pt idx="2">
                  <c:v>34.5</c:v>
                </c:pt>
                <c:pt idx="3">
                  <c:v>25.8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Why 7,175 applications were rejected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Rejections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632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6323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323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credit score</c:v>
                  </c:pt>
                  <c:pt idx="1">
                    <c:v>Insufficient documents</c:v>
                  </c:pt>
                  <c:pt idx="2">
                    <c:v>Policy mismatch</c:v>
                  </c:pt>
                  <c:pt idx="3">
                    <c:v>High loan-to-income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3320</c:v>
                </c:pt>
                <c:pt idx="1">
                  <c:v>1490</c:v>
                </c:pt>
                <c:pt idx="2">
                  <c:v>1428</c:v>
                </c:pt>
                <c:pt idx="3">
                  <c:v>937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238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238"/>
                </a:solidFill>
                <a:latin typeface="+mn-lt"/>
              </a:rPr>
              <a:t>Default rate by disbursal quarter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F57C00"/>
            </a:solidFill>
            <a:ln w="38100" cap="flat">
              <a:solidFill>
                <a:srgbClr val="F57C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7C00"/>
              </a:solidFill>
              <a:ln w="9525" cap="flat">
                <a:solidFill>
                  <a:srgbClr val="F57C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22Q1</c:v>
                  </c:pt>
                  <c:pt idx="1">
                    <c:v>22Q2</c:v>
                  </c:pt>
                  <c:pt idx="2">
                    <c:v>22Q3</c:v>
                  </c:pt>
                  <c:pt idx="3">
                    <c:v>22Q4</c:v>
                  </c:pt>
                  <c:pt idx="4">
                    <c:v>23Q1</c:v>
                  </c:pt>
                  <c:pt idx="5">
                    <c:v>23Q2</c:v>
                  </c:pt>
                  <c:pt idx="6">
                    <c:v>23Q3</c:v>
                  </c:pt>
                  <c:pt idx="7">
                    <c:v>23Q4</c:v>
                  </c:pt>
                  <c:pt idx="8">
                    <c:v>24Q1</c:v>
                  </c:pt>
                  <c:pt idx="9">
                    <c:v>24Q2</c:v>
                  </c:pt>
                  <c:pt idx="10">
                    <c:v>24Q3</c:v>
                  </c:pt>
                  <c:pt idx="11">
                    <c:v>24Q4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6.89</c:v>
                </c:pt>
                <c:pt idx="1">
                  <c:v>7.86</c:v>
                </c:pt>
                <c:pt idx="2">
                  <c:v>8.53</c:v>
                </c:pt>
                <c:pt idx="3">
                  <c:v>7.09</c:v>
                </c:pt>
                <c:pt idx="4">
                  <c:v>7.95</c:v>
                </c:pt>
                <c:pt idx="5">
                  <c:v>5.97</c:v>
                </c:pt>
                <c:pt idx="6">
                  <c:v>6.02</c:v>
                </c:pt>
                <c:pt idx="7">
                  <c:v>7.23</c:v>
                </c:pt>
                <c:pt idx="8">
                  <c:v>7.21</c:v>
                </c:pt>
                <c:pt idx="9">
                  <c:v>7.8</c:v>
                </c:pt>
                <c:pt idx="10">
                  <c:v>2.65</c:v>
                </c:pt>
                <c:pt idx="11">
                  <c:v>1.19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Portfolio average (6.3%)</c:v>
                </c:pt>
              </c:strCache>
            </c:strRef>
          </c:tx>
          <c:spPr>
            <a:solidFill>
              <a:srgbClr val="90A4AE"/>
            </a:solidFill>
            <a:ln w="38100" cap="flat">
              <a:solidFill>
                <a:srgbClr val="90A4A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6323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0A4AE"/>
              </a:solidFill>
              <a:ln w="9525" cap="flat">
                <a:solidFill>
                  <a:srgbClr val="90A4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22Q1</c:v>
                  </c:pt>
                  <c:pt idx="1">
                    <c:v>22Q2</c:v>
                  </c:pt>
                  <c:pt idx="2">
                    <c:v>22Q3</c:v>
                  </c:pt>
                  <c:pt idx="3">
                    <c:v>22Q4</c:v>
                  </c:pt>
                  <c:pt idx="4">
                    <c:v>23Q1</c:v>
                  </c:pt>
                  <c:pt idx="5">
                    <c:v>23Q2</c:v>
                  </c:pt>
                  <c:pt idx="6">
                    <c:v>23Q3</c:v>
                  </c:pt>
                  <c:pt idx="7">
                    <c:v>23Q4</c:v>
                  </c:pt>
                  <c:pt idx="8">
                    <c:v>24Q1</c:v>
                  </c:pt>
                  <c:pt idx="9">
                    <c:v>24Q2</c:v>
                  </c:pt>
                  <c:pt idx="10">
                    <c:v>24Q3</c:v>
                  </c:pt>
                  <c:pt idx="11">
                    <c:v>24Q4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6.3</c:v>
                </c:pt>
                <c:pt idx="1">
                  <c:v>6.3</c:v>
                </c:pt>
                <c:pt idx="2">
                  <c:v>6.3</c:v>
                </c:pt>
                <c:pt idx="3">
                  <c:v>6.3</c:v>
                </c:pt>
                <c:pt idx="4">
                  <c:v>6.3</c:v>
                </c:pt>
                <c:pt idx="5">
                  <c:v>6.3</c:v>
                </c:pt>
                <c:pt idx="6">
                  <c:v>6.3</c:v>
                </c:pt>
                <c:pt idx="7">
                  <c:v>6.3</c:v>
                </c:pt>
                <c:pt idx="8">
                  <c:v>6.3</c:v>
                </c:pt>
                <c:pt idx="9">
                  <c:v>6.3</c:v>
                </c:pt>
                <c:pt idx="10">
                  <c:v>6.3</c:v>
                </c:pt>
                <c:pt idx="11">
                  <c:v>6.3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6323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46E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bank wants to know how healthy its loan portfolio is and what drives default. Built with Python, SQL and Power BI on a synthetic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questions guide the analysis: approval by segment, overdue accounts, default by loan type, drivers of default, and trends.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for cleaning and exploration, SQL for business queries, Power BI for the interactive dashboard. SQL results were cross-checked against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4,825 loans, 387.1 million outstanding. 6.3% are in default (90+ days past due) and 6.6% are overdue by 1 to 89 days. 40.2% of applications were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11.7% and Personal 7.5% default most; Home is lowest at 2.9% but holds two thirds of the 387 million balance, so concentration is a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Poor-credit borrowers default at 34.6%, about 5.5 times the portfolio average; Excellent borrowers at only 0.5%. Defaults cluster below a score of about 650.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falls from 9.7% in the lowest income quartile to 2.8% in the highest. Loan-to-income and loan size look misleading overall because of product mix (Simpson's paradox); compare within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622 accounts are past due with 43.3 million exposure. 304 are 90+ days (15.2M) and 318 are overdue 1 to 89 days (28.1M), still recoverable. Home loans carry the largest overdue balance because the loans are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40.2% of applications are approved. Credit score and employment type drive approval; age and region do not, a healthy sign of consistent lending. Retired applicants are approved least and also default most (9.6%).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default rates stay between 6 and 8.5% until 2024 Q2. The drop afterwards reflects loan age (right-censoring). 115 of 304 defaults happened in the first half of 2025, showing the portfolio is maturing.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pages of the Power BI dashboard, using screenshots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Prioritise: tighten underwriting for poor credit, start collections at day 30, manage Home concentration, review Central, risk-based pricing for Business and Personal, and monitor cohorts by loan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limitations (synthetic data, censoring) and the next analytical steps,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outputs/dashboard/logo/bank_unique/bank_shield_orange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280160"/>
            <a:ext cx="54864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1752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3" name="Image 0" descr="/mnt/user-data/outputs/dashboard/logo/bank_unique/bank_shield_orange_1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237744" cy="237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Banking Loan Portfolio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1280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Banking Loan Portfolio Analysis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017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Credit risk, defaults and approvals using Python, SQL and Power BI</a:t>
            </a:r>
            <a:endParaRPr lang="en-US" sz="1800" dirty="0"/>
          </a:p>
        </p:txBody>
      </p:sp>
      <p:sp>
        <p:nvSpPr>
          <p:cNvPr id="4" name="snapshot note"/>
          <p:cNvSpPr txBox="1"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Portfolio snapshot: 30 June 2025  |  Synthetic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business problem</a:t>
            </a:r>
            <a:endParaRPr lang="en-US" sz="3200" dirty="0"/>
          </a:p>
        </p:txBody>
      </p:sp>
      <p:sp>
        <p:nvSpPr>
          <p:cNvPr id="3" name="scale card"/>
          <p:cNvSpPr/>
          <p:nvPr/>
        </p:nvSpPr>
        <p:spPr>
          <a:xfrm>
            <a:off x="457200" y="118872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applications value"/>
          <p:cNvSpPr txBox="1"/>
          <p:nvPr/>
        </p:nvSpPr>
        <p:spPr>
          <a:xfrm>
            <a:off x="68580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4400" dirty="0"/>
          </a:p>
        </p:txBody>
      </p:sp>
      <p:sp>
        <p:nvSpPr>
          <p:cNvPr id="5" name="applications label"/>
          <p:cNvSpPr txBox="1"/>
          <p:nvPr/>
        </p:nvSpPr>
        <p:spPr>
          <a:xfrm>
            <a:off x="68580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applications, Jan 2022 to Dec 2024</a:t>
            </a:r>
            <a:endParaRPr lang="en-US" sz="1400" dirty="0"/>
          </a:p>
        </p:txBody>
      </p:sp>
      <p:sp>
        <p:nvSpPr>
          <p:cNvPr id="6" name="loans value"/>
          <p:cNvSpPr txBox="1"/>
          <p:nvPr/>
        </p:nvSpPr>
        <p:spPr>
          <a:xfrm>
            <a:off x="685800" y="28346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4,825</a:t>
            </a:r>
            <a:endParaRPr lang="en-US" sz="4400" dirty="0"/>
          </a:p>
        </p:txBody>
      </p:sp>
      <p:sp>
        <p:nvSpPr>
          <p:cNvPr id="7" name="loans label"/>
          <p:cNvSpPr txBox="1"/>
          <p:nvPr/>
        </p:nvSpPr>
        <p:spPr>
          <a:xfrm>
            <a:off x="68580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approved loans worth 387.1M outstanding</a:t>
            </a:r>
            <a:endParaRPr lang="en-US" sz="1400" dirty="0"/>
          </a:p>
        </p:txBody>
      </p:sp>
      <p:sp>
        <p:nvSpPr>
          <p:cNvPr id="8" name="number 1"/>
          <p:cNvSpPr/>
          <p:nvPr/>
        </p:nvSpPr>
        <p:spPr>
          <a:xfrm>
            <a:off x="41148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number text 1"/>
          <p:cNvSpPr txBox="1"/>
          <p:nvPr/>
        </p:nvSpPr>
        <p:spPr>
          <a:xfrm>
            <a:off x="4114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question 1"/>
          <p:cNvSpPr txBox="1"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What share of applications is approved, by segment?</a:t>
            </a:r>
            <a:endParaRPr lang="en-US" sz="1500" dirty="0"/>
          </a:p>
        </p:txBody>
      </p:sp>
      <p:sp>
        <p:nvSpPr>
          <p:cNvPr id="11" name="number 2"/>
          <p:cNvSpPr/>
          <p:nvPr/>
        </p:nvSpPr>
        <p:spPr>
          <a:xfrm>
            <a:off x="4114800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number text 2"/>
          <p:cNvSpPr txBox="1"/>
          <p:nvPr/>
        </p:nvSpPr>
        <p:spPr>
          <a:xfrm>
            <a:off x="41148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question 2"/>
          <p:cNvSpPr txBox="1"/>
          <p:nvPr/>
        </p:nvSpPr>
        <p:spPr>
          <a:xfrm>
            <a:off x="4754880" y="1847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accounts are overdue, and for how long?</a:t>
            </a:r>
            <a:endParaRPr lang="en-US" sz="1500" dirty="0"/>
          </a:p>
        </p:txBody>
      </p:sp>
      <p:sp>
        <p:nvSpPr>
          <p:cNvPr id="14" name="number 3"/>
          <p:cNvSpPr/>
          <p:nvPr/>
        </p:nvSpPr>
        <p:spPr>
          <a:xfrm>
            <a:off x="4114800" y="2551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411480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question 3"/>
          <p:cNvSpPr txBox="1"/>
          <p:nvPr/>
        </p:nvSpPr>
        <p:spPr>
          <a:xfrm>
            <a:off x="4754880" y="25054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Which loan types default the most?</a:t>
            </a:r>
            <a:endParaRPr lang="en-US" sz="1500" dirty="0"/>
          </a:p>
        </p:txBody>
      </p:sp>
      <p:sp>
        <p:nvSpPr>
          <p:cNvPr id="17" name="number 4"/>
          <p:cNvSpPr/>
          <p:nvPr/>
        </p:nvSpPr>
        <p:spPr>
          <a:xfrm>
            <a:off x="4114800" y="32095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number text 4"/>
          <p:cNvSpPr txBox="1"/>
          <p:nvPr/>
        </p:nvSpPr>
        <p:spPr>
          <a:xfrm>
            <a:off x="411480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question 4"/>
          <p:cNvSpPr txBox="1"/>
          <p:nvPr/>
        </p:nvSpPr>
        <p:spPr>
          <a:xfrm>
            <a:off x="4754880" y="31638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do income, credit score and loan size relate to default?</a:t>
            </a:r>
            <a:endParaRPr lang="en-US" sz="1500" dirty="0"/>
          </a:p>
        </p:txBody>
      </p:sp>
      <p:sp>
        <p:nvSpPr>
          <p:cNvPr id="20" name="number 5"/>
          <p:cNvSpPr/>
          <p:nvPr/>
        </p:nvSpPr>
        <p:spPr>
          <a:xfrm>
            <a:off x="4114800" y="38679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number text 5"/>
          <p:cNvSpPr txBox="1"/>
          <p:nvPr/>
        </p:nvSpPr>
        <p:spPr>
          <a:xfrm>
            <a:off x="41148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question 5"/>
          <p:cNvSpPr txBox="1"/>
          <p:nvPr/>
        </p:nvSpPr>
        <p:spPr>
          <a:xfrm>
            <a:off x="4754880" y="38221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How have defaults changed over time?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tools, one workflow</a:t>
            </a:r>
            <a:endParaRPr lang="en-US" sz="3200" dirty="0"/>
          </a:p>
        </p:txBody>
      </p:sp>
      <p:sp>
        <p:nvSpPr>
          <p:cNvPr id="3" name="Python card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4" name="Python icon circle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ython icon" descr="Pyth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31620"/>
            <a:ext cx="320040" cy="320040"/>
          </a:xfrm>
          <a:prstGeom prst="rect">
            <a:avLst/>
          </a:prstGeom>
        </p:spPr>
      </p:pic>
      <p:sp>
        <p:nvSpPr>
          <p:cNvPr id="6" name="Python heading"/>
          <p:cNvSpPr txBox="1"/>
          <p:nvPr/>
        </p:nvSpPr>
        <p:spPr>
          <a:xfrm>
            <a:off x="685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Python points"/>
          <p:cNvSpPr txBox="1"/>
          <p:nvPr/>
        </p:nvSpPr>
        <p:spPr>
          <a:xfrm>
            <a:off x="685800" y="26517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Cleaned 12,000 applications and 4,825 loans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Built risk bands and flags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Charts and a logistic model (AUC 0.87)</a:t>
            </a:r>
            <a:endParaRPr lang="en-US" sz="1400" dirty="0"/>
          </a:p>
        </p:txBody>
      </p:sp>
      <p:sp>
        <p:nvSpPr>
          <p:cNvPr id="8" name="SQL card"/>
          <p:cNvSpPr/>
          <p:nvPr/>
        </p:nvSpPr>
        <p:spPr>
          <a:xfrm>
            <a:off x="324612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9" name="SQL icon circle"/>
          <p:cNvSpPr/>
          <p:nvPr/>
        </p:nvSpPr>
        <p:spPr>
          <a:xfrm>
            <a:off x="347472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QL icon" descr="SQ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740" y="1531620"/>
            <a:ext cx="320040" cy="320040"/>
          </a:xfrm>
          <a:prstGeom prst="rect">
            <a:avLst/>
          </a:prstGeom>
        </p:spPr>
      </p:pic>
      <p:sp>
        <p:nvSpPr>
          <p:cNvPr id="11" name="SQL heading"/>
          <p:cNvSpPr txBox="1"/>
          <p:nvPr/>
        </p:nvSpPr>
        <p:spPr>
          <a:xfrm>
            <a:off x="347472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200" dirty="0"/>
          </a:p>
        </p:txBody>
      </p:sp>
      <p:sp>
        <p:nvSpPr>
          <p:cNvPr id="12" name="SQL points"/>
          <p:cNvSpPr txBox="1"/>
          <p:nvPr/>
        </p:nvSpPr>
        <p:spPr>
          <a:xfrm>
            <a:off x="3474720" y="26517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29 business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Window functions: LAG, NTILE, RANK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CTEs to find high-risk segments</a:t>
            </a:r>
            <a:endParaRPr lang="en-US" sz="1400" dirty="0"/>
          </a:p>
        </p:txBody>
      </p:sp>
      <p:sp>
        <p:nvSpPr>
          <p:cNvPr id="13" name="Power BI card"/>
          <p:cNvSpPr/>
          <p:nvPr/>
        </p:nvSpPr>
        <p:spPr>
          <a:xfrm>
            <a:off x="603504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4" name="Power BI icon circle"/>
          <p:cNvSpPr/>
          <p:nvPr/>
        </p:nvSpPr>
        <p:spPr>
          <a:xfrm>
            <a:off x="6263640" y="13716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Power BI icon" descr="Power BI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531620"/>
            <a:ext cx="320040" cy="320040"/>
          </a:xfrm>
          <a:prstGeom prst="rect">
            <a:avLst/>
          </a:prstGeom>
        </p:spPr>
      </p:pic>
      <p:sp>
        <p:nvSpPr>
          <p:cNvPr id="16" name="Power BI heading"/>
          <p:cNvSpPr txBox="1"/>
          <p:nvPr/>
        </p:nvSpPr>
        <p:spPr>
          <a:xfrm>
            <a:off x="62636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7" name="Power BI points"/>
          <p:cNvSpPr txBox="1"/>
          <p:nvPr/>
        </p:nvSpPr>
        <p:spPr>
          <a:xfrm>
            <a:off x="6263640" y="26517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 pages of KPI cards and charts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DAX measures for rates and exposure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Slicers for interactive filtering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healthy book with pockets of risk</a:t>
            </a:r>
            <a:endParaRPr lang="en-US" sz="3200" dirty="0"/>
          </a:p>
        </p:txBody>
      </p:sp>
      <p:sp>
        <p:nvSpPr>
          <p:cNvPr id="3" name="stat loans card"/>
          <p:cNvSpPr/>
          <p:nvPr/>
        </p:nvSpPr>
        <p:spPr>
          <a:xfrm>
            <a:off x="457200" y="118872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tat loans value"/>
          <p:cNvSpPr txBox="1"/>
          <p:nvPr/>
        </p:nvSpPr>
        <p:spPr>
          <a:xfrm>
            <a:off x="640080" y="1298448"/>
            <a:ext cx="17373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4,825</a:t>
            </a:r>
            <a:endParaRPr lang="en-US" sz="3400" dirty="0"/>
          </a:p>
        </p:txBody>
      </p:sp>
      <p:sp>
        <p:nvSpPr>
          <p:cNvPr id="5" name="stat loans label"/>
          <p:cNvSpPr txBox="1"/>
          <p:nvPr/>
        </p:nvSpPr>
        <p:spPr>
          <a:xfrm>
            <a:off x="640080" y="2090318"/>
            <a:ext cx="17373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loans</a:t>
            </a:r>
            <a:endParaRPr lang="en-US" sz="1400" dirty="0"/>
          </a:p>
        </p:txBody>
      </p:sp>
      <p:sp>
        <p:nvSpPr>
          <p:cNvPr id="6" name="stat value card"/>
          <p:cNvSpPr/>
          <p:nvPr/>
        </p:nvSpPr>
        <p:spPr>
          <a:xfrm>
            <a:off x="2697480" y="118872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7" name="stat value value"/>
          <p:cNvSpPr txBox="1"/>
          <p:nvPr/>
        </p:nvSpPr>
        <p:spPr>
          <a:xfrm>
            <a:off x="2880360" y="1298448"/>
            <a:ext cx="17373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387.1M</a:t>
            </a:r>
            <a:endParaRPr lang="en-US" sz="3400" dirty="0"/>
          </a:p>
        </p:txBody>
      </p:sp>
      <p:sp>
        <p:nvSpPr>
          <p:cNvPr id="8" name="stat value label"/>
          <p:cNvSpPr txBox="1"/>
          <p:nvPr/>
        </p:nvSpPr>
        <p:spPr>
          <a:xfrm>
            <a:off x="2880360" y="2090318"/>
            <a:ext cx="17373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outstanding balance</a:t>
            </a:r>
            <a:endParaRPr lang="en-US" sz="1400" dirty="0"/>
          </a:p>
        </p:txBody>
      </p:sp>
      <p:sp>
        <p:nvSpPr>
          <p:cNvPr id="9" name="stat default card"/>
          <p:cNvSpPr/>
          <p:nvPr/>
        </p:nvSpPr>
        <p:spPr>
          <a:xfrm>
            <a:off x="457200" y="288036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stat default value"/>
          <p:cNvSpPr txBox="1"/>
          <p:nvPr/>
        </p:nvSpPr>
        <p:spPr>
          <a:xfrm>
            <a:off x="640080" y="2990088"/>
            <a:ext cx="17373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6.3%</a:t>
            </a:r>
            <a:endParaRPr lang="en-US" sz="3400" dirty="0"/>
          </a:p>
        </p:txBody>
      </p:sp>
      <p:sp>
        <p:nvSpPr>
          <p:cNvPr id="11" name="stat default label"/>
          <p:cNvSpPr txBox="1"/>
          <p:nvPr/>
        </p:nvSpPr>
        <p:spPr>
          <a:xfrm>
            <a:off x="640080" y="3781958"/>
            <a:ext cx="17373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default rate (90+ days)</a:t>
            </a:r>
            <a:endParaRPr lang="en-US" sz="1400" dirty="0"/>
          </a:p>
        </p:txBody>
      </p:sp>
      <p:sp>
        <p:nvSpPr>
          <p:cNvPr id="12" name="stat approval card"/>
          <p:cNvSpPr/>
          <p:nvPr/>
        </p:nvSpPr>
        <p:spPr>
          <a:xfrm>
            <a:off x="2697480" y="2880360"/>
            <a:ext cx="21031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stat approval value"/>
          <p:cNvSpPr txBox="1"/>
          <p:nvPr/>
        </p:nvSpPr>
        <p:spPr>
          <a:xfrm>
            <a:off x="2880360" y="2990088"/>
            <a:ext cx="17373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40.2%</a:t>
            </a:r>
            <a:endParaRPr lang="en-US" sz="3400" dirty="0"/>
          </a:p>
        </p:txBody>
      </p:sp>
      <p:sp>
        <p:nvSpPr>
          <p:cNvPr id="14" name="stat approval label"/>
          <p:cNvSpPr txBox="1"/>
          <p:nvPr/>
        </p:nvSpPr>
        <p:spPr>
          <a:xfrm>
            <a:off x="2880360" y="3781958"/>
            <a:ext cx="173736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approval rate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029200" y="1097280"/>
          <a:ext cx="3657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Business loans default most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business card"/>
          <p:cNvSpPr/>
          <p:nvPr/>
        </p:nvSpPr>
        <p:spPr>
          <a:xfrm>
            <a:off x="5852160" y="1188720"/>
            <a:ext cx="28346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stat business value"/>
          <p:cNvSpPr txBox="1"/>
          <p:nvPr/>
        </p:nvSpPr>
        <p:spPr>
          <a:xfrm>
            <a:off x="6035040" y="1298448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11.7%</a:t>
            </a:r>
            <a:endParaRPr lang="en-US" sz="3400" dirty="0"/>
          </a:p>
        </p:txBody>
      </p:sp>
      <p:sp>
        <p:nvSpPr>
          <p:cNvPr id="6" name="stat business label"/>
          <p:cNvSpPr txBox="1"/>
          <p:nvPr/>
        </p:nvSpPr>
        <p:spPr>
          <a:xfrm>
            <a:off x="6035040" y="2037283"/>
            <a:ext cx="246888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Business loans: the riskiest product</a:t>
            </a:r>
            <a:endParaRPr lang="en-US" sz="1400" dirty="0"/>
          </a:p>
        </p:txBody>
      </p:sp>
      <p:sp>
        <p:nvSpPr>
          <p:cNvPr id="7" name="stat home card"/>
          <p:cNvSpPr/>
          <p:nvPr/>
        </p:nvSpPr>
        <p:spPr>
          <a:xfrm>
            <a:off x="5852160" y="2880360"/>
            <a:ext cx="28346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stat home value"/>
          <p:cNvSpPr txBox="1"/>
          <p:nvPr/>
        </p:nvSpPr>
        <p:spPr>
          <a:xfrm>
            <a:off x="6035040" y="2990088"/>
            <a:ext cx="24688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400" dirty="0"/>
          </a:p>
        </p:txBody>
      </p:sp>
      <p:sp>
        <p:nvSpPr>
          <p:cNvPr id="9" name="stat home label"/>
          <p:cNvSpPr txBox="1"/>
          <p:nvPr/>
        </p:nvSpPr>
        <p:spPr>
          <a:xfrm>
            <a:off x="6035040" y="3781958"/>
            <a:ext cx="246888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exposure sits in Home loans (255M), the safest product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Credit score is the top risk driver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multiple card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stat multiple value"/>
          <p:cNvSpPr txBox="1"/>
          <p:nvPr/>
        </p:nvSpPr>
        <p:spPr>
          <a:xfrm>
            <a:off x="6217920" y="1298448"/>
            <a:ext cx="22860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5.5x</a:t>
            </a:r>
            <a:endParaRPr lang="en-US" sz="3400" dirty="0"/>
          </a:p>
        </p:txBody>
      </p:sp>
      <p:sp>
        <p:nvSpPr>
          <p:cNvPr id="6" name="stat multiple label"/>
          <p:cNvSpPr txBox="1"/>
          <p:nvPr/>
        </p:nvSpPr>
        <p:spPr>
          <a:xfrm>
            <a:off x="6217920" y="2090318"/>
            <a:ext cx="2286000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Poor credit vs the 6.3% average</a:t>
            </a:r>
            <a:endParaRPr lang="en-US" sz="1400" dirty="0"/>
          </a:p>
        </p:txBody>
      </p:sp>
      <p:sp>
        <p:nvSpPr>
          <p:cNvPr id="7" name="model card"/>
          <p:cNvSpPr/>
          <p:nvPr/>
        </p:nvSpPr>
        <p:spPr>
          <a:xfrm>
            <a:off x="6035040" y="2880360"/>
            <a:ext cx="26517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odel text"/>
          <p:cNvSpPr txBox="1"/>
          <p:nvPr/>
        </p:nvSpPr>
        <p:spPr>
          <a:xfrm>
            <a:off x="621792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logistic regression ranks credit score first, with test AUC of 0.87.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Income matters; compare within a product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nfound card"/>
          <p:cNvSpPr/>
          <p:nvPr/>
        </p:nvSpPr>
        <p:spPr>
          <a:xfrm>
            <a:off x="5212080" y="1188720"/>
            <a:ext cx="347472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5" name="confound heading"/>
          <p:cNvSpPr txBox="1"/>
          <p:nvPr/>
        </p:nvSpPr>
        <p:spPr>
          <a:xfrm>
            <a:off x="544068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Beware of mix effects</a:t>
            </a:r>
            <a:endParaRPr lang="en-US" sz="1800" dirty="0"/>
          </a:p>
        </p:txBody>
      </p:sp>
      <p:sp>
        <p:nvSpPr>
          <p:cNvPr id="6" name="confound points"/>
          <p:cNvSpPr txBox="1"/>
          <p:nvPr/>
        </p:nvSpPr>
        <p:spPr>
          <a:xfrm>
            <a:off x="5440680" y="182880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Across the book, loans above 3x income look safest (3.3%).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Within Home loans, default rises from 1.6% to 3.9% as loan-to-income grows.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Within Business loans, it rises from 6.8% to 15.6%.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43.3M is past due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pastdue card"/>
          <p:cNvSpPr/>
          <p:nvPr/>
        </p:nvSpPr>
        <p:spPr>
          <a:xfrm>
            <a:off x="5669280" y="118872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5" name="stat pastdue value"/>
          <p:cNvSpPr txBox="1"/>
          <p:nvPr/>
        </p:nvSpPr>
        <p:spPr>
          <a:xfrm>
            <a:off x="5852160" y="1298448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</a:t>
            </a:r>
            <a:endParaRPr lang="en-US" sz="3400" dirty="0"/>
          </a:p>
        </p:txBody>
      </p:sp>
      <p:sp>
        <p:nvSpPr>
          <p:cNvPr id="6" name="stat pastdue label"/>
          <p:cNvSpPr txBox="1"/>
          <p:nvPr/>
        </p:nvSpPr>
        <p:spPr>
          <a:xfrm>
            <a:off x="5852160" y="1772107"/>
            <a:ext cx="2651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accounts past due (11.2% of value)</a:t>
            </a:r>
            <a:endParaRPr lang="en-US" sz="1400" dirty="0"/>
          </a:p>
        </p:txBody>
      </p:sp>
      <p:sp>
        <p:nvSpPr>
          <p:cNvPr id="7" name="stat overdue card"/>
          <p:cNvSpPr/>
          <p:nvPr/>
        </p:nvSpPr>
        <p:spPr>
          <a:xfrm>
            <a:off x="5669280" y="233172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stat overdue value"/>
          <p:cNvSpPr txBox="1"/>
          <p:nvPr/>
        </p:nvSpPr>
        <p:spPr>
          <a:xfrm>
            <a:off x="5852160" y="2441448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318</a:t>
            </a:r>
            <a:endParaRPr lang="en-US" sz="3400" dirty="0"/>
          </a:p>
        </p:txBody>
      </p:sp>
      <p:sp>
        <p:nvSpPr>
          <p:cNvPr id="9" name="stat overdue label"/>
          <p:cNvSpPr txBox="1"/>
          <p:nvPr/>
        </p:nvSpPr>
        <p:spPr>
          <a:xfrm>
            <a:off x="5852160" y="2915107"/>
            <a:ext cx="2651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overdue 1-89 days (28.1M)</a:t>
            </a:r>
            <a:endParaRPr lang="en-US" sz="1400" dirty="0"/>
          </a:p>
        </p:txBody>
      </p:sp>
      <p:sp>
        <p:nvSpPr>
          <p:cNvPr id="10" name="stat homeoverdue card"/>
          <p:cNvSpPr/>
          <p:nvPr/>
        </p:nvSpPr>
        <p:spPr>
          <a:xfrm>
            <a:off x="5669280" y="3474720"/>
            <a:ext cx="30175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stat homeoverdue value"/>
          <p:cNvSpPr txBox="1"/>
          <p:nvPr/>
        </p:nvSpPr>
        <p:spPr>
          <a:xfrm>
            <a:off x="5852160" y="3584448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15.1M</a:t>
            </a:r>
            <a:endParaRPr lang="en-US" sz="3400" dirty="0"/>
          </a:p>
        </p:txBody>
      </p:sp>
      <p:sp>
        <p:nvSpPr>
          <p:cNvPr id="12" name="stat homeoverdue label"/>
          <p:cNvSpPr txBox="1"/>
          <p:nvPr/>
        </p:nvSpPr>
        <p:spPr>
          <a:xfrm>
            <a:off x="5852160" y="4058107"/>
            <a:ext cx="26517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overdue balance in Home loans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Approval follows credit and employment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97280"/>
          <a:ext cx="3931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pproval note card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6" name="approval note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Poor credit is approved 11% of the time vs about 70% for Excellent. Age and region barely matter (39-42%).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Defaults hold at 6-8% by cohort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peak card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stat peak value"/>
          <p:cNvSpPr txBox="1"/>
          <p:nvPr/>
        </p:nvSpPr>
        <p:spPr>
          <a:xfrm>
            <a:off x="6309360" y="129844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6" name="stat peak label"/>
          <p:cNvSpPr txBox="1"/>
          <p:nvPr/>
        </p:nvSpPr>
        <p:spPr>
          <a:xfrm>
            <a:off x="6309360" y="2037283"/>
            <a:ext cx="219456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defaults in a month at peak (Apr and Jun 2025)</a:t>
            </a:r>
            <a:endParaRPr lang="en-US" sz="1400" dirty="0"/>
          </a:p>
        </p:txBody>
      </p:sp>
      <p:sp>
        <p:nvSpPr>
          <p:cNvPr id="7" name="young card"/>
          <p:cNvSpPr/>
          <p:nvPr/>
        </p:nvSpPr>
        <p:spPr>
          <a:xfrm>
            <a:off x="6126480" y="2788920"/>
            <a:ext cx="256032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young text"/>
          <p:cNvSpPr txBox="1"/>
          <p:nvPr/>
        </p:nvSpPr>
        <p:spPr>
          <a:xfrm>
            <a:off x="6309360" y="2880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fall after 24Q2 is not an improvement: those loans are too young to default yet.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 interactive four-page dashboard</a:t>
            </a:r>
            <a:endParaRPr lang="en-US" sz="3200" dirty="0"/>
          </a:p>
        </p:txBody>
      </p:sp>
      <p:sp>
        <p:nvSpPr>
          <p:cNvPr id="3" name="Portfolio Overview card"/>
          <p:cNvSpPr/>
          <p:nvPr/>
        </p:nvSpPr>
        <p:spPr>
          <a:xfrm>
            <a:off x="45720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Portfolio Overview icon circle"/>
          <p:cNvSpPr/>
          <p:nvPr/>
        </p:nvSpPr>
        <p:spPr>
          <a:xfrm>
            <a:off x="68580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ortfolio Overview icon" descr="Portfolio Overvie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6" name="Portfolio Overview heading"/>
          <p:cNvSpPr txBox="1"/>
          <p:nvPr/>
        </p:nvSpPr>
        <p:spPr>
          <a:xfrm>
            <a:off x="164592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1800" dirty="0"/>
          </a:p>
        </p:txBody>
      </p:sp>
      <p:sp>
        <p:nvSpPr>
          <p:cNvPr id="7" name="Portfolio Overview description"/>
          <p:cNvSpPr txBox="1"/>
          <p:nvPr/>
        </p:nvSpPr>
        <p:spPr>
          <a:xfrm>
            <a:off x="164592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KPIs, default trend, status, exposure and region</a:t>
            </a:r>
            <a:endParaRPr lang="en-US" sz="1400" dirty="0"/>
          </a:p>
        </p:txBody>
      </p:sp>
      <p:sp>
        <p:nvSpPr>
          <p:cNvPr id="8" name="Aging and Overdue card"/>
          <p:cNvSpPr/>
          <p:nvPr/>
        </p:nvSpPr>
        <p:spPr>
          <a:xfrm>
            <a:off x="4663440" y="118872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Aging and Overdue icon circle"/>
          <p:cNvSpPr/>
          <p:nvPr/>
        </p:nvSpPr>
        <p:spPr>
          <a:xfrm>
            <a:off x="489204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ging and Overdue icon" descr="Aging and Overdu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91640"/>
            <a:ext cx="365760" cy="365760"/>
          </a:xfrm>
          <a:prstGeom prst="rect">
            <a:avLst/>
          </a:prstGeom>
        </p:spPr>
      </p:pic>
      <p:sp>
        <p:nvSpPr>
          <p:cNvPr id="11" name="Aging and Overdue heading"/>
          <p:cNvSpPr txBox="1"/>
          <p:nvPr/>
        </p:nvSpPr>
        <p:spPr>
          <a:xfrm>
            <a:off x="585216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Aging and Overdue</a:t>
            </a:r>
            <a:endParaRPr lang="en-US" sz="1800" dirty="0"/>
          </a:p>
        </p:txBody>
      </p:sp>
      <p:sp>
        <p:nvSpPr>
          <p:cNvPr id="12" name="Aging and Overdue description"/>
          <p:cNvSpPr txBox="1"/>
          <p:nvPr/>
        </p:nvSpPr>
        <p:spPr>
          <a:xfrm>
            <a:off x="585216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Days-past-due buckets and flagged accounts</a:t>
            </a:r>
            <a:endParaRPr lang="en-US" sz="1400" dirty="0"/>
          </a:p>
        </p:txBody>
      </p:sp>
      <p:sp>
        <p:nvSpPr>
          <p:cNvPr id="13" name="Risk Drivers card"/>
          <p:cNvSpPr/>
          <p:nvPr/>
        </p:nvSpPr>
        <p:spPr>
          <a:xfrm>
            <a:off x="457200" y="26974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Risk Drivers icon circle"/>
          <p:cNvSpPr/>
          <p:nvPr/>
        </p:nvSpPr>
        <p:spPr>
          <a:xfrm>
            <a:off x="685800" y="3017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isk Drivers icon" descr="Risk Driv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365760" cy="365760"/>
          </a:xfrm>
          <a:prstGeom prst="rect">
            <a:avLst/>
          </a:prstGeom>
        </p:spPr>
      </p:pic>
      <p:sp>
        <p:nvSpPr>
          <p:cNvPr id="16" name="Risk Drivers heading"/>
          <p:cNvSpPr txBox="1"/>
          <p:nvPr/>
        </p:nvSpPr>
        <p:spPr>
          <a:xfrm>
            <a:off x="164592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Drivers</a:t>
            </a:r>
            <a:endParaRPr lang="en-US" sz="1800" dirty="0"/>
          </a:p>
        </p:txBody>
      </p:sp>
      <p:sp>
        <p:nvSpPr>
          <p:cNvPr id="17" name="Risk Drivers description"/>
          <p:cNvSpPr txBox="1"/>
          <p:nvPr/>
        </p:nvSpPr>
        <p:spPr>
          <a:xfrm>
            <a:off x="1645920" y="3337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Default by credit, income, size and loan type</a:t>
            </a:r>
            <a:endParaRPr lang="en-US" sz="1400" dirty="0"/>
          </a:p>
        </p:txBody>
      </p:sp>
      <p:sp>
        <p:nvSpPr>
          <p:cNvPr id="18" name="Approval Analysis card"/>
          <p:cNvSpPr/>
          <p:nvPr/>
        </p:nvSpPr>
        <p:spPr>
          <a:xfrm>
            <a:off x="4663440" y="2697480"/>
            <a:ext cx="4023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Approval Analysis icon circle"/>
          <p:cNvSpPr/>
          <p:nvPr/>
        </p:nvSpPr>
        <p:spPr>
          <a:xfrm>
            <a:off x="4892040" y="3017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pproval Analysis icon" descr="Approval Analysi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00400"/>
            <a:ext cx="365760" cy="365760"/>
          </a:xfrm>
          <a:prstGeom prst="rect">
            <a:avLst/>
          </a:prstGeom>
        </p:spPr>
      </p:pic>
      <p:sp>
        <p:nvSpPr>
          <p:cNvPr id="21" name="Approval Analysis heading"/>
          <p:cNvSpPr txBox="1"/>
          <p:nvPr/>
        </p:nvSpPr>
        <p:spPr>
          <a:xfrm>
            <a:off x="5852160" y="2880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Analysis</a:t>
            </a:r>
            <a:endParaRPr lang="en-US" sz="1800" dirty="0"/>
          </a:p>
        </p:txBody>
      </p:sp>
      <p:sp>
        <p:nvSpPr>
          <p:cNvPr id="22" name="Approval Analysis description"/>
          <p:cNvSpPr txBox="1"/>
          <p:nvPr/>
        </p:nvSpPr>
        <p:spPr>
          <a:xfrm>
            <a:off x="5852160" y="3337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Funnel, rejection reasons and segment heatmap</a:t>
            </a:r>
            <a:endParaRPr lang="en-US" sz="1400" dirty="0"/>
          </a:p>
        </p:txBody>
      </p:sp>
      <p:sp>
        <p:nvSpPr>
          <p:cNvPr id="23" name="dashboard note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Each page pairs KPI cards with charts that answer one business question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Six recommendations</a:t>
            </a:r>
            <a:endParaRPr lang="en-US" sz="3200" dirty="0"/>
          </a:p>
        </p:txBody>
      </p:sp>
      <p:sp>
        <p:nvSpPr>
          <p:cNvPr id="3" name="rec card 1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number text 1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heading 1"/>
          <p:cNvSpPr txBox="1"/>
          <p:nvPr/>
        </p:nvSpPr>
        <p:spPr>
          <a:xfrm>
            <a:off x="128016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Tighten Poor-credit lending</a:t>
            </a:r>
            <a:endParaRPr lang="en-US" sz="1500" dirty="0"/>
          </a:p>
        </p:txBody>
      </p:sp>
      <p:sp>
        <p:nvSpPr>
          <p:cNvPr id="7" name="rec text 1"/>
          <p:cNvSpPr txBox="1"/>
          <p:nvPr/>
        </p:nvSpPr>
        <p:spPr>
          <a:xfrm>
            <a:off x="12801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34.6% default below 580: cap limits and price for risk</a:t>
            </a:r>
            <a:endParaRPr lang="en-US" sz="1400" dirty="0"/>
          </a:p>
        </p:txBody>
      </p:sp>
      <p:sp>
        <p:nvSpPr>
          <p:cNvPr id="8" name="rec card 2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846320" y="1435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umber text 2"/>
          <p:cNvSpPr txBox="1"/>
          <p:nvPr/>
        </p:nvSpPr>
        <p:spPr>
          <a:xfrm>
            <a:off x="48463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c heading 2"/>
          <p:cNvSpPr txBox="1"/>
          <p:nvPr/>
        </p:nvSpPr>
        <p:spPr>
          <a:xfrm>
            <a:off x="548640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Collect from day 30</a:t>
            </a:r>
            <a:endParaRPr lang="en-US" sz="1500" dirty="0"/>
          </a:p>
        </p:txBody>
      </p:sp>
      <p:sp>
        <p:nvSpPr>
          <p:cNvPr id="12" name="rec text 2"/>
          <p:cNvSpPr txBox="1"/>
          <p:nvPr/>
        </p:nvSpPr>
        <p:spPr>
          <a:xfrm>
            <a:off x="548640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156 accounts (13.5M) at 31-89 days can still be saved</a:t>
            </a:r>
            <a:endParaRPr lang="en-US" sz="1400" dirty="0"/>
          </a:p>
        </p:txBody>
      </p:sp>
      <p:sp>
        <p:nvSpPr>
          <p:cNvPr id="13" name="rec card 3"/>
          <p:cNvSpPr/>
          <p:nvPr/>
        </p:nvSpPr>
        <p:spPr>
          <a:xfrm>
            <a:off x="457200" y="2286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rec heading 3"/>
          <p:cNvSpPr txBox="1"/>
          <p:nvPr/>
        </p:nvSpPr>
        <p:spPr>
          <a:xfrm>
            <a:off x="1280160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 Home concentration</a:t>
            </a:r>
            <a:endParaRPr lang="en-US" sz="1500" dirty="0"/>
          </a:p>
        </p:txBody>
      </p:sp>
      <p:sp>
        <p:nvSpPr>
          <p:cNvPr id="17" name="rec text 3"/>
          <p:cNvSpPr txBox="1"/>
          <p:nvPr/>
        </p:nvSpPr>
        <p:spPr>
          <a:xfrm>
            <a:off x="128016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66% of exposure sits in one product; stress-test it</a:t>
            </a:r>
            <a:endParaRPr lang="en-US" sz="1400" dirty="0"/>
          </a:p>
        </p:txBody>
      </p:sp>
      <p:sp>
        <p:nvSpPr>
          <p:cNvPr id="18" name="rec card 4"/>
          <p:cNvSpPr/>
          <p:nvPr/>
        </p:nvSpPr>
        <p:spPr>
          <a:xfrm>
            <a:off x="4663440" y="2286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4846320" y="2532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number text 4"/>
          <p:cNvSpPr txBox="1"/>
          <p:nvPr/>
        </p:nvSpPr>
        <p:spPr>
          <a:xfrm>
            <a:off x="48463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rec heading 4"/>
          <p:cNvSpPr txBox="1"/>
          <p:nvPr/>
        </p:nvSpPr>
        <p:spPr>
          <a:xfrm>
            <a:off x="5486400" y="2377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Review the Central region</a:t>
            </a:r>
            <a:endParaRPr lang="en-US" sz="1500" dirty="0"/>
          </a:p>
        </p:txBody>
      </p:sp>
      <p:sp>
        <p:nvSpPr>
          <p:cNvPr id="22" name="rec text 4"/>
          <p:cNvSpPr txBox="1"/>
          <p:nvPr/>
        </p:nvSpPr>
        <p:spPr>
          <a:xfrm>
            <a:off x="548640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8.8% default, nearly 2x the East (4.6%)</a:t>
            </a:r>
            <a:endParaRPr lang="en-US" sz="1400" dirty="0"/>
          </a:p>
        </p:txBody>
      </p:sp>
      <p:sp>
        <p:nvSpPr>
          <p:cNvPr id="23" name="rec card 5"/>
          <p:cNvSpPr/>
          <p:nvPr/>
        </p:nvSpPr>
        <p:spPr>
          <a:xfrm>
            <a:off x="457200" y="338328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640080" y="3630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number text 5"/>
          <p:cNvSpPr txBox="1"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rec heading 5"/>
          <p:cNvSpPr txBox="1"/>
          <p:nvPr/>
        </p:nvSpPr>
        <p:spPr>
          <a:xfrm>
            <a:off x="1280160" y="3474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Price Business and Personal</a:t>
            </a:r>
            <a:endParaRPr lang="en-US" sz="1500" dirty="0"/>
          </a:p>
        </p:txBody>
      </p:sp>
      <p:sp>
        <p:nvSpPr>
          <p:cNvPr id="27" name="rec text 5"/>
          <p:cNvSpPr txBox="1"/>
          <p:nvPr/>
        </p:nvSpPr>
        <p:spPr>
          <a:xfrm>
            <a:off x="128016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11.7% and 7.5% defaults call for risk-based pricing</a:t>
            </a:r>
            <a:endParaRPr lang="en-US" sz="1400" dirty="0"/>
          </a:p>
        </p:txBody>
      </p:sp>
      <p:sp>
        <p:nvSpPr>
          <p:cNvPr id="28" name="rec card 6"/>
          <p:cNvSpPr/>
          <p:nvPr/>
        </p:nvSpPr>
        <p:spPr>
          <a:xfrm>
            <a:off x="4663440" y="338328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4846320" y="36301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ber text 6"/>
          <p:cNvSpPr txBox="1"/>
          <p:nvPr/>
        </p:nvSpPr>
        <p:spPr>
          <a:xfrm>
            <a:off x="48463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rec heading 6"/>
          <p:cNvSpPr txBox="1"/>
          <p:nvPr/>
        </p:nvSpPr>
        <p:spPr>
          <a:xfrm>
            <a:off x="5486400" y="3474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Monitor by loan age</a:t>
            </a:r>
            <a:endParaRPr lang="en-US" sz="1500" dirty="0"/>
          </a:p>
        </p:txBody>
      </p:sp>
      <p:sp>
        <p:nvSpPr>
          <p:cNvPr id="32" name="rec text 6"/>
          <p:cNvSpPr txBox="1"/>
          <p:nvPr/>
        </p:nvSpPr>
        <p:spPr>
          <a:xfrm>
            <a:off x="548640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Compare cohorts at the same age, not by quarter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Limitations and next steps</a:t>
            </a:r>
            <a:endParaRPr lang="en-US" sz="3200" dirty="0"/>
          </a:p>
        </p:txBody>
      </p:sp>
      <p:sp>
        <p:nvSpPr>
          <p:cNvPr id="3" name="limitations heading"/>
          <p:cNvSpPr txBox="1"/>
          <p:nvPr/>
        </p:nvSpPr>
        <p:spPr>
          <a:xfrm>
            <a:off x="45720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4" name="limitations points"/>
          <p:cNvSpPr txBox="1"/>
          <p:nvPr/>
        </p:nvSpPr>
        <p:spPr>
          <a:xfrm>
            <a:off x="457200" y="178308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Synthetic data: numbers illustrate the method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Default means 90+ days past due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Newest loans are too young to judge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Association, not causation; no macro factors</a:t>
            </a:r>
            <a:endParaRPr lang="en-US" sz="1500" dirty="0"/>
          </a:p>
        </p:txBody>
      </p:sp>
      <p:sp>
        <p:nvSpPr>
          <p:cNvPr id="5" name="next steps heading"/>
          <p:cNvSpPr txBox="1"/>
          <p:nvPr/>
        </p:nvSpPr>
        <p:spPr>
          <a:xfrm>
            <a:off x="475488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next steps points"/>
          <p:cNvSpPr txBox="1"/>
          <p:nvPr/>
        </p:nvSpPr>
        <p:spPr>
          <a:xfrm>
            <a:off x="4754880" y="17830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Vintage analysis by loan 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Scored probability-of-default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Expected-loss estimates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Automated monthly data refresh</a:t>
            </a:r>
            <a:endParaRPr lang="en-US" sz="1500" dirty="0"/>
          </a:p>
        </p:txBody>
      </p:sp>
      <p:pic>
        <p:nvPicPr>
          <p:cNvPr id="7" name="closing logo" descr="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8" name="thank you"/>
          <p:cNvSpPr txBox="1"/>
          <p:nvPr/>
        </p:nvSpPr>
        <p:spPr>
          <a:xfrm>
            <a:off x="109728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an Risk Orange">
  <a:themeElements>
    <a:clrScheme name="Loan Risk Orange">
      <a:dk1>
        <a:srgbClr val="1A1A1A"/>
      </a:dk1>
      <a:lt1>
        <a:srgbClr val="FFFFFF"/>
      </a:lt1>
      <a:dk2>
        <a:srgbClr val="455A64"/>
      </a:dk2>
      <a:lt2>
        <a:srgbClr val="FFF1E0"/>
      </a:lt2>
      <a:accent1>
        <a:srgbClr val="F57C00"/>
      </a:accent1>
      <a:accent2>
        <a:srgbClr val="C62828"/>
      </a:accent2>
      <a:accent3>
        <a:srgbClr val="FFB74D"/>
      </a:accent3>
      <a:accent4>
        <a:srgbClr val="2E7D32"/>
      </a:accent4>
      <a:accent5>
        <a:srgbClr val="263238"/>
      </a:accent5>
      <a:accent6>
        <a:srgbClr val="90A4AE"/>
      </a:accent6>
      <a:hlink>
        <a:srgbClr val="E65100"/>
      </a:hlink>
      <a:folHlink>
        <a:srgbClr val="90A4AE"/>
      </a:folHlink>
    </a:clrScheme>
    <a:fontScheme name="Loan Risk Oran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Loan Portfolio Analysis</dc:title>
  <dc:subject>PptxGenJS Presentation</dc:subject>
  <dc:creator>Portfolio project</dc:creator>
  <cp:lastModifiedBy>Portfolio project</cp:lastModifiedBy>
  <cp:revision>1</cp:revision>
  <dcterms:created xsi:type="dcterms:W3CDTF">2026-10-19T06:42:11Z</dcterms:created>
  <dcterms:modified xsi:type="dcterms:W3CDTF">2026-10-19T06:42:11Z</dcterms:modified>
</cp:coreProperties>
</file>